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Кадров с применённой настройкой</c:v>
                </c:pt>
              </c:strCache>
            </c:strRef>
          </c:tx>
          <c:spPr>
            <a:solidFill>
              <a:srgbClr val="6BB29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Exposure (slider)</c:v>
                  </c:pt>
                  <c:pt idx="1">
                    <c:v>Saturation</c:v>
                  </c:pt>
                  <c:pt idx="2">
                    <c:v>Clarity</c:v>
                  </c:pt>
                  <c:pt idx="3">
                    <c:v>Dehaze</c:v>
                  </c:pt>
                  <c:pt idx="4">
                    <c:v>USM Sharpening</c:v>
                  </c:pt>
                  <c:pt idx="5">
                    <c:v>Crop applied</c:v>
                  </c:pt>
                  <c:pt idx="6">
                    <c:v>Contrast</c:v>
                  </c:pt>
                  <c:pt idx="7">
                    <c:v>Noise reduction (NR amount)</c:v>
                  </c:pt>
                  <c:pt idx="8">
                    <c:v>B&amp;W enabled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4835</c:v>
                </c:pt>
                <c:pt idx="1">
                  <c:v>4835</c:v>
                </c:pt>
                <c:pt idx="2">
                  <c:v>4835</c:v>
                </c:pt>
                <c:pt idx="3">
                  <c:v>4835</c:v>
                </c:pt>
                <c:pt idx="4">
                  <c:v>4835</c:v>
                </c:pt>
                <c:pt idx="5">
                  <c:v>4835</c:v>
                </c:pt>
                <c:pt idx="6">
                  <c:v>4817</c:v>
                </c:pt>
                <c:pt idx="7">
                  <c:v>4813</c:v>
                </c:pt>
                <c:pt idx="8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Aperture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9A35F"/>
              </a:solidFill>
              <a:effectLst/>
            </c:spPr>
          </c:dPt>
          <c:dPt>
            <c:idx val="1"/>
            <c:bubble3D val="0"/>
            <c:spPr>
              <a:solidFill>
                <a:srgbClr val="6BB294"/>
              </a:solidFill>
              <a:effectLst/>
            </c:spPr>
          </c:dPt>
          <c:dPt>
            <c:idx val="2"/>
            <c:bubble3D val="0"/>
            <c:spPr>
              <a:solidFill>
                <a:srgbClr val="6BA4D9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f/6.3</c:v>
                </c:pt>
                <c:pt idx="1">
                  <c:v>f/7.1</c:v>
                </c:pt>
                <c:pt idx="2">
                  <c:v>f/8.0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4780</c:v>
                </c:pt>
                <c:pt idx="1">
                  <c:v>54</c:v>
                </c:pt>
                <c:pt idx="2">
                  <c:v>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ISO</c:v>
                </c:pt>
              </c:strCache>
            </c:strRef>
          </c:tx>
          <c:spPr>
            <a:solidFill>
              <a:srgbClr val="6BB29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640</c:v>
                  </c:pt>
                  <c:pt idx="1">
                    <c:v>1000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4826</c:v>
                </c:pt>
                <c:pt idx="1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Кадров</c:v>
                </c:pt>
              </c:strCache>
            </c:strRef>
          </c:tx>
          <c:spPr>
            <a:solidFill>
              <a:srgbClr val="D9A3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20мм</c:v>
                  </c:pt>
                  <c:pt idx="1">
                    <c:v>25мм</c:v>
                  </c:pt>
                  <c:pt idx="2">
                    <c:v>30мм</c:v>
                  </c:pt>
                  <c:pt idx="3">
                    <c:v>35мм</c:v>
                  </c:pt>
                  <c:pt idx="4">
                    <c:v>40мм</c:v>
                  </c:pt>
                  <c:pt idx="5">
                    <c:v>45мм</c:v>
                  </c:pt>
                  <c:pt idx="6">
                    <c:v>50мм</c:v>
                  </c:pt>
                  <c:pt idx="7">
                    <c:v>55мм</c:v>
                  </c:pt>
                  <c:pt idx="8">
                    <c:v>60мм</c:v>
                  </c:pt>
                  <c:pt idx="9">
                    <c:v>65мм</c:v>
                  </c:pt>
                  <c:pt idx="10">
                    <c:v>70мм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149</c:v>
                </c:pt>
                <c:pt idx="1">
                  <c:v>414</c:v>
                </c:pt>
                <c:pt idx="2">
                  <c:v>609</c:v>
                </c:pt>
                <c:pt idx="3">
                  <c:v>1161</c:v>
                </c:pt>
                <c:pt idx="4">
                  <c:v>641</c:v>
                </c:pt>
                <c:pt idx="5">
                  <c:v>422</c:v>
                </c:pt>
                <c:pt idx="6">
                  <c:v>589</c:v>
                </c:pt>
                <c:pt idx="7">
                  <c:v>350</c:v>
                </c:pt>
                <c:pt idx="8">
                  <c:v>135</c:v>
                </c:pt>
                <c:pt idx="9">
                  <c:v>92</c:v>
                </c:pt>
                <c:pt idx="10">
                  <c:v>273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700000"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chart" Target="/ppt/charts/chart4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jpeg"/><Relationship Id="rId3" Type="http://schemas.openxmlformats.org/officeDocument/2006/relationships/image" Target="../media/image-12-3.jpeg"/><Relationship Id="rId4" Type="http://schemas.openxmlformats.org/officeDocument/2006/relationships/image" Target="../media/image-12-4.jpeg"/><Relationship Id="rId5" Type="http://schemas.openxmlformats.org/officeDocument/2006/relationships/image" Target="../media/image-12-5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jpeg"/><Relationship Id="rId3" Type="http://schemas.openxmlformats.org/officeDocument/2006/relationships/image" Target="../media/image-15-3.jpeg"/><Relationship Id="rId4" Type="http://schemas.openxmlformats.org/officeDocument/2006/relationships/image" Target="../media/image-15-4.jpeg"/><Relationship Id="rId5" Type="http://schemas.openxmlformats.org/officeDocument/2006/relationships/image" Target="../media/image-15-5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7F7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Maket CP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548640" y="30175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9A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продакшена из настоящих файлов Capture One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3611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Сессия EKONIKA · 6–7 мая 2026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4434840"/>
            <a:ext cx="1371600" cy="54864"/>
          </a:xfrm>
          <a:prstGeom prst="rect">
            <a:avLst/>
          </a:prstGeom>
          <a:solidFill>
            <a:srgbClr val="D9A35F"/>
          </a:solidFill>
          <a:ln w="12700">
            <a:solidFill>
              <a:srgbClr val="D9A3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572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посчитано на основе 4 835 файлов .cos — без отдельной разметки фотографа.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5029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Часы в EXIF на камере были выставлены неверно — в презентации интервалы и длительности реальные, но точное время МСК не показываем.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Maket CP читает из .cos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457200" cy="54864"/>
          </a:xfrm>
          <a:prstGeom prst="rect">
            <a:avLst/>
          </a:prstGeom>
          <a:solidFill>
            <a:srgbClr val="D9A35F"/>
          </a:solidFill>
          <a:ln w="12700">
            <a:solidFill>
              <a:srgbClr val="D9A3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кадр оставляет след — структурированную разметку Capture One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4924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73152" cy="2286000"/>
          </a:xfrm>
          <a:prstGeom prst="rect">
            <a:avLst/>
          </a:prstGeom>
          <a:solidFill>
            <a:srgbClr val="6BB294"/>
          </a:solidFill>
          <a:ln w="12700">
            <a:solidFill>
              <a:srgbClr val="6BB2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0195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Когда снято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267712"/>
            <a:ext cx="4983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Точное Exp_Date — UNIX-таймштамп срабатывания затвора. Базис всех временных метрик.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34924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783080"/>
            <a:ext cx="73152" cy="2286000"/>
          </a:xfrm>
          <a:prstGeom prst="rect">
            <a:avLst/>
          </a:prstGeom>
          <a:solidFill>
            <a:srgbClr val="6BB294"/>
          </a:solidFill>
          <a:ln w="12700">
            <a:solidFill>
              <a:srgbClr val="6BB2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90195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На что снято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2267712"/>
            <a:ext cx="4983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Camera_Model · Camera_Lens · ISO · Aperture · ShutterSpeed · FocalLength · ExposureMode · Metering · WB · Flash.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534924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434840"/>
            <a:ext cx="73152" cy="2286000"/>
          </a:xfrm>
          <a:prstGeom prst="rect">
            <a:avLst/>
          </a:prstGeom>
          <a:solidFill>
            <a:srgbClr val="6BB294"/>
          </a:solidFill>
          <a:ln w="12700">
            <a:solidFill>
              <a:srgbClr val="6BB29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55371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фотограф уже сделал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" y="4919472"/>
            <a:ext cx="4983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слайдеры C1: Exposure · Highlight · Shadow · Clarity · Dehaze · Saturation · NR · USM · Crop · Color Corrections.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63640" y="4434840"/>
            <a:ext cx="534924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4434840"/>
            <a:ext cx="73152" cy="2286000"/>
          </a:xfrm>
          <a:prstGeom prst="rect">
            <a:avLst/>
          </a:prstGeom>
          <a:solidFill>
            <a:srgbClr val="6BB294"/>
          </a:solidFill>
          <a:ln w="12700">
            <a:solidFill>
              <a:srgbClr val="6BB29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455371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Метаданные качества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92240" y="4919472"/>
            <a:ext cx="4983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Basic_Rating · Image_Scene · LastMetadataModificationDate · Color_Tag · ImageClassification.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Кейс EKONIKA — общие числа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457200" cy="54864"/>
          </a:xfrm>
          <a:prstGeom prst="rect">
            <a:avLst/>
          </a:prstGeom>
          <a:solidFill>
            <a:srgbClr val="D9A35F"/>
          </a:solidFill>
          <a:ln w="12700">
            <a:solidFill>
              <a:srgbClr val="D9A3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Реальные 4 835 .cos файлов сессии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974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73152" cy="1783080"/>
          </a:xfrm>
          <a:prstGeom prst="rect">
            <a:avLst/>
          </a:prstGeom>
          <a:solidFill>
            <a:srgbClr val="D9A35F"/>
          </a:solidFill>
          <a:ln w="12700">
            <a:solidFill>
              <a:srgbClr val="D9A3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47672"/>
            <a:ext cx="233172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4 835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77240" y="26746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кадров за два дня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031236"/>
            <a:ext cx="2331720" cy="481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 f/6.3 · ISO 640 · Canon R5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10712" y="1783080"/>
            <a:ext cx="26974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10712" y="1783080"/>
            <a:ext cx="73152" cy="1783080"/>
          </a:xfrm>
          <a:prstGeom prst="rect">
            <a:avLst/>
          </a:prstGeom>
          <a:solidFill>
            <a:srgbClr val="D9A35F"/>
          </a:solidFill>
          <a:ln w="12700">
            <a:solidFill>
              <a:srgbClr val="D9A3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9312" y="1947672"/>
            <a:ext cx="233172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13.4 ч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639312" y="26746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чистого времени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39312" y="3031236"/>
            <a:ext cx="2331720" cy="481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7.8ч + 5.6ч (без ночи)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72784" y="1783080"/>
            <a:ext cx="26974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2784" y="1783080"/>
            <a:ext cx="73152" cy="1783080"/>
          </a:xfrm>
          <a:prstGeom prst="rect">
            <a:avLst/>
          </a:prstGeom>
          <a:solidFill>
            <a:srgbClr val="D9A35F"/>
          </a:solidFill>
          <a:ln w="12700">
            <a:solidFill>
              <a:srgbClr val="D9A3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01384" y="1947672"/>
            <a:ext cx="233172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64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501384" y="26746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артикула в финале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01384" y="3031236"/>
            <a:ext cx="2331720" cy="481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 слота, 3 фото на карточку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34856" y="1783080"/>
            <a:ext cx="26974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34856" y="1783080"/>
            <a:ext cx="73152" cy="1783080"/>
          </a:xfrm>
          <a:prstGeom prst="rect">
            <a:avLst/>
          </a:prstGeom>
          <a:solidFill>
            <a:srgbClr val="D9A35F"/>
          </a:solidFill>
          <a:ln w="12700">
            <a:solidFill>
              <a:srgbClr val="D9A3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63456" y="1947672"/>
            <a:ext cx="233172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3:25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9363456" y="26746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мин:сек на артикул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63456" y="3031236"/>
            <a:ext cx="2331720" cy="481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0:47 · Med 2:54 · Max 17:02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886200"/>
            <a:ext cx="1106424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3886200"/>
            <a:ext cx="73152" cy="2331720"/>
          </a:xfrm>
          <a:prstGeom prst="rect">
            <a:avLst/>
          </a:prstGeom>
          <a:solidFill>
            <a:srgbClr val="D9A35F"/>
          </a:solidFill>
          <a:ln w="12700">
            <a:solidFill>
              <a:srgbClr val="D9A3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0233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эти числа дают команде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77240" y="4434840"/>
            <a:ext cx="10789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4 835 кадров за 13.4 часов чистой съёмки = 361 кадров/час, или 1 кадр в 10 секунд.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один артикул в финальном отборе уходит 3:25 мин:сек — от первого до последнего варианта. Min 0:47, max 17:02.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мая vs 7 мая — сравнение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457200" cy="54864"/>
          </a:xfrm>
          <a:prstGeom prst="rect">
            <a:avLst/>
          </a:prstGeom>
          <a:solidFill>
            <a:srgbClr val="D9A35F"/>
          </a:solidFill>
          <a:ln w="12700">
            <a:solidFill>
              <a:srgbClr val="D9A3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ключевые метрики бок о бок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4297680"/>
        </p:xfrm>
        <a:graphic>
          <a:graphicData uri="http://schemas.openxmlformats.org/drawingml/2006/table">
            <a:tbl>
              <a:tblPr/>
              <a:tblGrid>
                <a:gridCol w="3200400"/>
                <a:gridCol w="2624328"/>
                <a:gridCol w="2624328"/>
                <a:gridCol w="2624328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Метрика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мая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мая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35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Активное время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 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 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13.4 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Кадров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2 649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2 186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4 835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Из них с rating ≥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Темп, кадр/час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Артикулов снято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Медиана/артикул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3:13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Артикулов/час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Темп почти одинаковый между днями (≈4.8 артикулов/час). Это значит фотограф работает в стабильном ритме без выгорания.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Таймлайн дней — без точного времени, с реальными интервалами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457200" cy="54864"/>
          </a:xfrm>
          <a:prstGeom prst="rect">
            <a:avLst/>
          </a:prstGeom>
          <a:solidFill>
            <a:srgbClr val="D9A35F"/>
          </a:solidFill>
          <a:ln w="12700">
            <a:solidFill>
              <a:srgbClr val="D9A3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полоса — артикул; пустоты — перерывы; шкала «час 1, час 2…» от старта дня</a:t>
            </a:r>
            <a:endParaRPr lang="en-US" sz="1400" dirty="0"/>
          </a:p>
        </p:txBody>
      </p:sp>
      <p:pic>
        <p:nvPicPr>
          <p:cNvPr id="5" name="Image 0" descr="/sessions/blissful-quirky-johnson/mnt/outputs/chart_detailed_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91640"/>
            <a:ext cx="11430000" cy="4023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852160"/>
            <a:ext cx="110642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5852160"/>
            <a:ext cx="73152" cy="640080"/>
          </a:xfrm>
          <a:prstGeom prst="rect">
            <a:avLst/>
          </a:prstGeom>
          <a:solidFill>
            <a:srgbClr val="D9A35F"/>
          </a:solidFill>
          <a:ln w="12700">
            <a:solidFill>
              <a:srgbClr val="D9A3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594360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камере было выставлено неверное время в EXIF — поэтому показываем интервалы от старта дня, а не часы МСК. Длительности и паузы реальные.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Перерывы — общая картина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457200" cy="54864"/>
          </a:xfrm>
          <a:prstGeom prst="rect">
            <a:avLst/>
          </a:prstGeom>
          <a:solidFill>
            <a:srgbClr val="D9A35F"/>
          </a:solidFill>
          <a:ln w="12700">
            <a:solidFill>
              <a:srgbClr val="D9A3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 пауз &gt; 1 минуты внутри съёмочных дней</a:t>
            </a:r>
            <a:endParaRPr lang="en-US" sz="1400" dirty="0"/>
          </a:p>
        </p:txBody>
      </p:sp>
      <p:pic>
        <p:nvPicPr>
          <p:cNvPr id="5" name="Image 0" descr="/sessions/blissful-quirky-johnson/mnt/outputs/chart_ga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6217920" cy="3108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49440" y="16916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Самые длинные паузы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2103120"/>
          <a:ext cx="4663440" cy="2377440"/>
        </p:xfrm>
        <a:graphic>
          <a:graphicData uri="http://schemas.openxmlformats.org/drawingml/2006/table">
            <a:tbl>
              <a:tblPr/>
              <a:tblGrid>
                <a:gridCol w="1280160"/>
                <a:gridCol w="1463040"/>
                <a:gridCol w="19202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День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Длина паузы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Тип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День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 мин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обед / смена сета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День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 мин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кофе-брейк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День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мин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кофе-брейк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День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мин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кофе-брейк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День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мин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короткая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029200"/>
            <a:ext cx="110642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48640" y="5029200"/>
            <a:ext cx="73152" cy="1417320"/>
          </a:xfrm>
          <a:prstGeom prst="rect">
            <a:avLst/>
          </a:prstGeom>
          <a:solidFill>
            <a:srgbClr val="D9A35F"/>
          </a:solidFill>
          <a:ln w="12700">
            <a:solidFill>
              <a:srgbClr val="D9A35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77240" y="512064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Самая длинная пауза 64 минуты — это обед в первый день. Вторая 44 минуты — большая смена сета или второй приём пищи. Затем по 24 минуты — кофе/реквизит.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не привязано к МСК (в EXIF на камере было выставлено неверно), но интервалы между паузами и съёмкой реальные.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Footprint техники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457200" cy="54864"/>
          </a:xfrm>
          <a:prstGeom prst="rect">
            <a:avLst/>
          </a:prstGeom>
          <a:solidFill>
            <a:srgbClr val="D9A35F"/>
          </a:solidFill>
          <a:ln w="12700">
            <a:solidFill>
              <a:srgbClr val="D9A3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Камера / линза / профиль на всей съёмке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6576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73152" cy="4114800"/>
          </a:xfrm>
          <a:prstGeom prst="rect">
            <a:avLst/>
          </a:prstGeom>
          <a:solidFill>
            <a:srgbClr val="D9A35F"/>
          </a:solidFill>
          <a:ln w="12700">
            <a:solidFill>
              <a:srgbClr val="D9A3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105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Камера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176272"/>
            <a:ext cx="32918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 EOS R5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Кадров: 4 835 (100%)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Firmware: Firmware Version 2.0.0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камера на всю съёмку — нет хаоса разнокалиберных битриейтов.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70832" y="1691640"/>
            <a:ext cx="36576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70832" y="1691640"/>
            <a:ext cx="73152" cy="4114800"/>
          </a:xfrm>
          <a:prstGeom prst="rect">
            <a:avLst/>
          </a:prstGeom>
          <a:solidFill>
            <a:srgbClr val="6BB294"/>
          </a:solidFill>
          <a:ln w="12700">
            <a:solidFill>
              <a:srgbClr val="6BB2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9432" y="18105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Линза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99432" y="2176272"/>
            <a:ext cx="32918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 EF 24-70mm f/2.8L II USM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Кадров: 4 813 (100%)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«свадебная лошадка» 24-70 f/2.8 — fashion универсал.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93024" y="1691640"/>
            <a:ext cx="36576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93024" y="1691640"/>
            <a:ext cx="73152" cy="4114800"/>
          </a:xfrm>
          <a:prstGeom prst="rect">
            <a:avLst/>
          </a:prstGeom>
          <a:solidFill>
            <a:srgbClr val="D9A35F"/>
          </a:solidFill>
          <a:ln w="12700">
            <a:solidFill>
              <a:srgbClr val="D9A3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21624" y="18105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Цвет / профиль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21624" y="2176272"/>
            <a:ext cx="32918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ICC-профиль: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CanonEOSR5-ProStandard.icm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Баланс белого: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Единый colorspace на всех файлах.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фотограф уже сделал в Capture One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457200" cy="54864"/>
          </a:xfrm>
          <a:prstGeom prst="rect">
            <a:avLst/>
          </a:prstGeom>
          <a:solidFill>
            <a:srgbClr val="D9A35F"/>
          </a:solidFill>
          <a:ln w="12700">
            <a:solidFill>
              <a:srgbClr val="D9A3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Применённые слайдеры на 4 835 кадрах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91640"/>
          <a:ext cx="71323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909560" y="1691640"/>
            <a:ext cx="370332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909560" y="1691640"/>
            <a:ext cx="73152" cy="4206240"/>
          </a:xfrm>
          <a:prstGeom prst="rect">
            <a:avLst/>
          </a:prstGeom>
          <a:solidFill>
            <a:srgbClr val="D9A35F"/>
          </a:solidFill>
          <a:ln w="12700">
            <a:solidFill>
              <a:srgbClr val="D9A3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92440" y="17830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это значит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92440" y="2194560"/>
            <a:ext cx="3429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всех 4 835 кадров: Exposure-slider, Saturation, Clarity, Dehaze, USM, Crop. Это значит у фотографа есть базовый preset C1 «студия EKONIKA».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retouch / B&amp;W — почти ноль. Это product-съёмка.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Параметры съёмки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457200" cy="54864"/>
          </a:xfrm>
          <a:prstGeom prst="rect">
            <a:avLst/>
          </a:prstGeom>
          <a:solidFill>
            <a:srgbClr val="D9A35F"/>
          </a:solidFill>
          <a:ln w="12700">
            <a:solidFill>
              <a:srgbClr val="D9A3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Распределение по диафрагме, ISO и фокусному расстоянию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Диафрагма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2011680"/>
          <a:ext cx="38404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25196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ISO</a:t>
            </a:r>
            <a:endParaRPr lang="en-US" sz="14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251960" y="2011680"/>
          <a:ext cx="36576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795528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Фокусное (бины 5мм)</a:t>
            </a:r>
            <a:endParaRPr lang="en-US" sz="1400" dirty="0"/>
          </a:p>
        </p:txBody>
      </p:sp>
      <p:graphicFrame>
        <p:nvGraphicFramePr>
          <p:cNvPr id="10" name="Chart 2" descr=""/>
          <p:cNvGraphicFramePr/>
          <p:nvPr/>
        </p:nvGraphicFramePr>
        <p:xfrm>
          <a:off x="7955280" y="2011680"/>
          <a:ext cx="36576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 6"/>
          <p:cNvSpPr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Снимали в студии: одна диафрагма f/6.3, фиксированный ISO 640. Зум 24–70 использовали по полной (пик 35мм/50мм).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7F7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День 1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548640" y="3291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9A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день съёмки — 38 артикулов за 7.8 часов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4114800"/>
            <a:ext cx="1371600" cy="54864"/>
          </a:xfrm>
          <a:prstGeom prst="rect">
            <a:avLst/>
          </a:prstGeom>
          <a:solidFill>
            <a:srgbClr val="D9A35F"/>
          </a:solidFill>
          <a:ln w="12700">
            <a:solidFill>
              <a:srgbClr val="D9A35F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День 1 — основные показатели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457200" cy="54864"/>
          </a:xfrm>
          <a:prstGeom prst="rect">
            <a:avLst/>
          </a:prstGeom>
          <a:solidFill>
            <a:srgbClr val="D9A35F"/>
          </a:solidFill>
          <a:ln w="12700">
            <a:solidFill>
              <a:srgbClr val="D9A3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 ч активной съёмки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974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73152" cy="1783080"/>
          </a:xfrm>
          <a:prstGeom prst="rect">
            <a:avLst/>
          </a:prstGeom>
          <a:solidFill>
            <a:srgbClr val="D9A35F"/>
          </a:solidFill>
          <a:ln w="12700">
            <a:solidFill>
              <a:srgbClr val="D9A3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47672"/>
            <a:ext cx="233172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2 649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77240" y="26746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кадров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031236"/>
            <a:ext cx="2331720" cy="481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339 кадр/час · 461 с rating ≥ 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10712" y="1783080"/>
            <a:ext cx="26974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10712" y="1783080"/>
            <a:ext cx="73152" cy="1783080"/>
          </a:xfrm>
          <a:prstGeom prst="rect">
            <a:avLst/>
          </a:prstGeom>
          <a:solidFill>
            <a:srgbClr val="D9A35F"/>
          </a:solidFill>
          <a:ln w="12700">
            <a:solidFill>
              <a:srgbClr val="D9A3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9312" y="1947672"/>
            <a:ext cx="233172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639312" y="26746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артикулов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39312" y="3031236"/>
            <a:ext cx="2331720" cy="481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 артикула/час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72784" y="1783080"/>
            <a:ext cx="26974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2784" y="1783080"/>
            <a:ext cx="73152" cy="1783080"/>
          </a:xfrm>
          <a:prstGeom prst="rect">
            <a:avLst/>
          </a:prstGeom>
          <a:solidFill>
            <a:srgbClr val="D9A35F"/>
          </a:solidFill>
          <a:ln w="12700">
            <a:solidFill>
              <a:srgbClr val="D9A3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01384" y="1947672"/>
            <a:ext cx="233172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3:13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501384" y="26746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медиана/артикул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01384" y="3031236"/>
            <a:ext cx="2331720" cy="481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 137 мин чистой съёмки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34856" y="1783080"/>
            <a:ext cx="26974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34856" y="1783080"/>
            <a:ext cx="73152" cy="1783080"/>
          </a:xfrm>
          <a:prstGeom prst="rect">
            <a:avLst/>
          </a:prstGeom>
          <a:solidFill>
            <a:srgbClr val="D9A35F"/>
          </a:solidFill>
          <a:ln w="12700">
            <a:solidFill>
              <a:srgbClr val="D9A3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63456" y="1947672"/>
            <a:ext cx="233172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 мин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9363456" y="26746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самая длинная пауза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63456" y="3031236"/>
            <a:ext cx="2331720" cy="481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обед / смена сета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886200"/>
            <a:ext cx="1106424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3886200"/>
            <a:ext cx="73152" cy="2331720"/>
          </a:xfrm>
          <a:prstGeom prst="rect">
            <a:avLst/>
          </a:prstGeom>
          <a:solidFill>
            <a:srgbClr val="D9A35F"/>
          </a:solidFill>
          <a:ln w="12700">
            <a:solidFill>
              <a:srgbClr val="D9A3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0233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Как прошёл день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77240" y="4434840"/>
            <a:ext cx="10789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Темп 339 кадр/час, пик активности после 5-го часа смены (между обедами на 44 и 65 минут).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Закрыто 38 артикулов — почти 5 артикулов в час. Долгие артикулы (8+ мин) сосредоточены в начале смены — фотограф адаптируется к свету.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День 1 — пять самых ёмких артикулов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457200" cy="54864"/>
          </a:xfrm>
          <a:prstGeom prst="rect">
            <a:avLst/>
          </a:prstGeom>
          <a:solidFill>
            <a:srgbClr val="D9A35F"/>
          </a:solidFill>
          <a:ln w="12700">
            <a:solidFill>
              <a:srgbClr val="D9A3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кадр карточки + время съёмки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121408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2121408" cy="3200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72768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8:46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2194560"/>
            <a:ext cx="1847088" cy="31089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534924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Карточка 15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85800" y="571500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3.0-м часу смены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85800" y="5989320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EKONIKA_2026-05-06_005581.CR3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788920" y="1691640"/>
            <a:ext cx="2121408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788920" y="1691640"/>
            <a:ext cx="2121408" cy="3200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971800" y="1737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813048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7:50</a:t>
            </a:r>
            <a:endParaRPr lang="en-US" sz="12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926080" y="2194560"/>
            <a:ext cx="1847088" cy="31089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926080" y="534924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Карточка 2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2926080" y="571500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0.7-м часу смены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2926080" y="5989320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EKONIKA_2026-05-06_004854.CR3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5029200" y="1691640"/>
            <a:ext cx="2121408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029200" y="1691640"/>
            <a:ext cx="2121408" cy="3200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212080" y="1737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6053328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7:48</a:t>
            </a:r>
            <a:endParaRPr lang="en-US" sz="12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166360" y="2194560"/>
            <a:ext cx="1847088" cy="310896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166360" y="534924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Карточка 1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5166360" y="571500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0.4-м часу смены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5166360" y="5989320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EKONIKA_2026-05-06_004800.CR3</a:t>
            </a:r>
            <a:endParaRPr lang="en-US" sz="800" dirty="0"/>
          </a:p>
        </p:txBody>
      </p:sp>
      <p:sp>
        <p:nvSpPr>
          <p:cNvPr id="29" name="Shape 24"/>
          <p:cNvSpPr/>
          <p:nvPr/>
        </p:nvSpPr>
        <p:spPr>
          <a:xfrm>
            <a:off x="7269480" y="1691640"/>
            <a:ext cx="2121408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7269480" y="1691640"/>
            <a:ext cx="2121408" cy="3200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7452360" y="1737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8293608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7:41</a:t>
            </a:r>
            <a:endParaRPr lang="en-US" sz="1200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406640" y="2194560"/>
            <a:ext cx="1847088" cy="310896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7406640" y="534924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Карточка 9</a:t>
            </a:r>
            <a:endParaRPr lang="en-US" sz="1400" dirty="0"/>
          </a:p>
        </p:txBody>
      </p:sp>
      <p:sp>
        <p:nvSpPr>
          <p:cNvPr id="35" name="Text 29"/>
          <p:cNvSpPr/>
          <p:nvPr/>
        </p:nvSpPr>
        <p:spPr>
          <a:xfrm>
            <a:off x="7406640" y="571500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2.5-м часу смены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7406640" y="5989320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EKONIKA_2026-05-06_005435.CR3</a:t>
            </a:r>
            <a:endParaRPr lang="en-US" sz="800" dirty="0"/>
          </a:p>
        </p:txBody>
      </p:sp>
      <p:sp>
        <p:nvSpPr>
          <p:cNvPr id="37" name="Shape 31"/>
          <p:cNvSpPr/>
          <p:nvPr/>
        </p:nvSpPr>
        <p:spPr>
          <a:xfrm>
            <a:off x="9509760" y="1691640"/>
            <a:ext cx="2121408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9509760" y="1691640"/>
            <a:ext cx="2121408" cy="3200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9692640" y="1737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1300" dirty="0"/>
          </a:p>
        </p:txBody>
      </p:sp>
      <p:sp>
        <p:nvSpPr>
          <p:cNvPr id="40" name="Text 34"/>
          <p:cNvSpPr/>
          <p:nvPr/>
        </p:nvSpPr>
        <p:spPr>
          <a:xfrm>
            <a:off x="10533888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6:45</a:t>
            </a:r>
            <a:endParaRPr lang="en-US" sz="1200" dirty="0"/>
          </a:p>
        </p:txBody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646920" y="2194560"/>
            <a:ext cx="1847088" cy="3108960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9646920" y="534924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Карточка 12</a:t>
            </a:r>
            <a:endParaRPr lang="en-US" sz="1400" dirty="0"/>
          </a:p>
        </p:txBody>
      </p:sp>
      <p:sp>
        <p:nvSpPr>
          <p:cNvPr id="43" name="Text 36"/>
          <p:cNvSpPr/>
          <p:nvPr/>
        </p:nvSpPr>
        <p:spPr>
          <a:xfrm>
            <a:off x="9646920" y="571500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1.3-м часу смены</a:t>
            </a:r>
            <a:endParaRPr lang="en-US" sz="1100" dirty="0"/>
          </a:p>
        </p:txBody>
      </p:sp>
      <p:sp>
        <p:nvSpPr>
          <p:cNvPr id="44" name="Text 37"/>
          <p:cNvSpPr/>
          <p:nvPr/>
        </p:nvSpPr>
        <p:spPr>
          <a:xfrm>
            <a:off x="9646920" y="5989320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EKONIKA_2026-05-06_005029.CR3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7F7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День 2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548640" y="3291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9A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Второй день — 26 артикулов за 5.6 часов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4114800"/>
            <a:ext cx="1371600" cy="54864"/>
          </a:xfrm>
          <a:prstGeom prst="rect">
            <a:avLst/>
          </a:prstGeom>
          <a:solidFill>
            <a:srgbClr val="D9A35F"/>
          </a:solidFill>
          <a:ln w="12700">
            <a:solidFill>
              <a:srgbClr val="D9A35F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День 2 — основные показатели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457200" cy="54864"/>
          </a:xfrm>
          <a:prstGeom prst="rect">
            <a:avLst/>
          </a:prstGeom>
          <a:solidFill>
            <a:srgbClr val="D9A35F"/>
          </a:solidFill>
          <a:ln w="12700">
            <a:solidFill>
              <a:srgbClr val="D9A3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 ч активной съёмки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974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73152" cy="1783080"/>
          </a:xfrm>
          <a:prstGeom prst="rect">
            <a:avLst/>
          </a:prstGeom>
          <a:solidFill>
            <a:srgbClr val="D9A35F"/>
          </a:solidFill>
          <a:ln w="12700">
            <a:solidFill>
              <a:srgbClr val="D9A3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47672"/>
            <a:ext cx="233172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2 186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77240" y="26746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кадров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031236"/>
            <a:ext cx="2331720" cy="481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390 кадр/час · 363 с rating ≥ 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10712" y="1783080"/>
            <a:ext cx="26974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10712" y="1783080"/>
            <a:ext cx="73152" cy="1783080"/>
          </a:xfrm>
          <a:prstGeom prst="rect">
            <a:avLst/>
          </a:prstGeom>
          <a:solidFill>
            <a:srgbClr val="D9A35F"/>
          </a:solidFill>
          <a:ln w="12700">
            <a:solidFill>
              <a:srgbClr val="D9A3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9312" y="1947672"/>
            <a:ext cx="233172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639312" y="26746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артикулов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39312" y="3031236"/>
            <a:ext cx="2331720" cy="481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 артикула/час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72784" y="1783080"/>
            <a:ext cx="26974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2784" y="1783080"/>
            <a:ext cx="73152" cy="1783080"/>
          </a:xfrm>
          <a:prstGeom prst="rect">
            <a:avLst/>
          </a:prstGeom>
          <a:solidFill>
            <a:srgbClr val="D9A35F"/>
          </a:solidFill>
          <a:ln w="12700">
            <a:solidFill>
              <a:srgbClr val="D9A3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01384" y="1947672"/>
            <a:ext cx="233172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2:27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501384" y="26746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медиана/артикул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01384" y="3031236"/>
            <a:ext cx="2331720" cy="481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 81 мин чистой съёмки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34856" y="1783080"/>
            <a:ext cx="26974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34856" y="1783080"/>
            <a:ext cx="73152" cy="1783080"/>
          </a:xfrm>
          <a:prstGeom prst="rect">
            <a:avLst/>
          </a:prstGeom>
          <a:solidFill>
            <a:srgbClr val="D9A35F"/>
          </a:solidFill>
          <a:ln w="12700">
            <a:solidFill>
              <a:srgbClr val="D9A3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63456" y="1947672"/>
            <a:ext cx="233172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 мин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9363456" y="26746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самая длинная пауза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63456" y="3031236"/>
            <a:ext cx="2331720" cy="481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обед / смена сета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886200"/>
            <a:ext cx="1106424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3886200"/>
            <a:ext cx="73152" cy="2331720"/>
          </a:xfrm>
          <a:prstGeom prst="rect">
            <a:avLst/>
          </a:prstGeom>
          <a:solidFill>
            <a:srgbClr val="D9A35F"/>
          </a:solidFill>
          <a:ln w="12700">
            <a:solidFill>
              <a:srgbClr val="D9A3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0233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Как прошёл день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77240" y="4434840"/>
            <a:ext cx="10789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Темп выше первого дня: 390 кадр/час и 4.6 артикулов/час.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Закрыто 26 артикулов. Медиана меньше первого дня (2:27 vs 3:13) — фотограф работает быстрее, набирает форму.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День 2 — пять самых ёмких артикулов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457200" cy="54864"/>
          </a:xfrm>
          <a:prstGeom prst="rect">
            <a:avLst/>
          </a:prstGeom>
          <a:solidFill>
            <a:srgbClr val="D9A35F"/>
          </a:solidFill>
          <a:ln w="12700">
            <a:solidFill>
              <a:srgbClr val="D9A3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кадр карточки + время съёмки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121408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2121408" cy="3200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72768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17:02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2194560"/>
            <a:ext cx="1847088" cy="31089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534924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Карточка 51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85800" y="571500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4.4-м часу смены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85800" y="5989320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EKONIKA_2026-05-06_008829.CR3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788920" y="1691640"/>
            <a:ext cx="2121408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788920" y="1691640"/>
            <a:ext cx="2121408" cy="3200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971800" y="1737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813048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4:32</a:t>
            </a:r>
            <a:endParaRPr lang="en-US" sz="12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926080" y="2194560"/>
            <a:ext cx="1847088" cy="31089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926080" y="534924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Карточка 50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2926080" y="571500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4.1-м часу смены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2926080" y="5989320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EKONIKA_2026-05-06_008737.CR3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5029200" y="1691640"/>
            <a:ext cx="2121408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029200" y="1691640"/>
            <a:ext cx="2121408" cy="3200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212080" y="1737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6053328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4:28</a:t>
            </a:r>
            <a:endParaRPr lang="en-US" sz="12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166360" y="2194560"/>
            <a:ext cx="1847088" cy="310896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166360" y="534924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Карточка 41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5166360" y="571500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1.5-м часу смены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5166360" y="5989320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EKONIKA_2026-05-06_007870.CR3</a:t>
            </a:r>
            <a:endParaRPr lang="en-US" sz="800" dirty="0"/>
          </a:p>
        </p:txBody>
      </p:sp>
      <p:sp>
        <p:nvSpPr>
          <p:cNvPr id="29" name="Shape 24"/>
          <p:cNvSpPr/>
          <p:nvPr/>
        </p:nvSpPr>
        <p:spPr>
          <a:xfrm>
            <a:off x="7269480" y="1691640"/>
            <a:ext cx="2121408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7269480" y="1691640"/>
            <a:ext cx="2121408" cy="3200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7452360" y="1737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8293608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4:05</a:t>
            </a:r>
            <a:endParaRPr lang="en-US" sz="1200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406640" y="2194560"/>
            <a:ext cx="1847088" cy="310896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7406640" y="534924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Карточка 53</a:t>
            </a:r>
            <a:endParaRPr lang="en-US" sz="1400" dirty="0"/>
          </a:p>
        </p:txBody>
      </p:sp>
      <p:sp>
        <p:nvSpPr>
          <p:cNvPr id="35" name="Text 29"/>
          <p:cNvSpPr/>
          <p:nvPr/>
        </p:nvSpPr>
        <p:spPr>
          <a:xfrm>
            <a:off x="7406640" y="571500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4.9-м часу смены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7406640" y="5989320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EKONIKA_2026-05-06_009072.CR3</a:t>
            </a:r>
            <a:endParaRPr lang="en-US" sz="800" dirty="0"/>
          </a:p>
        </p:txBody>
      </p:sp>
      <p:sp>
        <p:nvSpPr>
          <p:cNvPr id="37" name="Shape 31"/>
          <p:cNvSpPr/>
          <p:nvPr/>
        </p:nvSpPr>
        <p:spPr>
          <a:xfrm>
            <a:off x="9509760" y="1691640"/>
            <a:ext cx="2121408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9509760" y="1691640"/>
            <a:ext cx="2121408" cy="3200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9692640" y="1737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1300" dirty="0"/>
          </a:p>
        </p:txBody>
      </p:sp>
      <p:sp>
        <p:nvSpPr>
          <p:cNvPr id="40" name="Text 34"/>
          <p:cNvSpPr/>
          <p:nvPr/>
        </p:nvSpPr>
        <p:spPr>
          <a:xfrm>
            <a:off x="10533888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4:02</a:t>
            </a:r>
            <a:endParaRPr lang="en-US" sz="1200" dirty="0"/>
          </a:p>
        </p:txBody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646920" y="2194560"/>
            <a:ext cx="1847088" cy="3108960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9646920" y="534924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Карточка 34</a:t>
            </a:r>
            <a:endParaRPr lang="en-US" sz="1400" dirty="0"/>
          </a:p>
        </p:txBody>
      </p:sp>
      <p:sp>
        <p:nvSpPr>
          <p:cNvPr id="43" name="Text 36"/>
          <p:cNvSpPr/>
          <p:nvPr/>
        </p:nvSpPr>
        <p:spPr>
          <a:xfrm>
            <a:off x="9646920" y="571500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0.4-м часу смены</a:t>
            </a:r>
            <a:endParaRPr lang="en-US" sz="1100" dirty="0"/>
          </a:p>
        </p:txBody>
      </p:sp>
      <p:sp>
        <p:nvSpPr>
          <p:cNvPr id="44" name="Text 37"/>
          <p:cNvSpPr/>
          <p:nvPr/>
        </p:nvSpPr>
        <p:spPr>
          <a:xfrm>
            <a:off x="9646920" y="5989320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EKONIKA_2026-05-06_007418.CR3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7F7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Логи продакшен-цикла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548640" y="3291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9A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писалось пока шла работа над съёмкой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4114800"/>
            <a:ext cx="1371600" cy="54864"/>
          </a:xfrm>
          <a:prstGeom prst="rect">
            <a:avLst/>
          </a:prstGeom>
          <a:solidFill>
            <a:srgbClr val="D9A35F"/>
          </a:solidFill>
          <a:ln w="12700">
            <a:solidFill>
              <a:srgbClr val="D9A35F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мы видим в логах прямо сейчас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457200" cy="54864"/>
          </a:xfrm>
          <a:prstGeom prst="rect">
            <a:avLst/>
          </a:prstGeom>
          <a:solidFill>
            <a:srgbClr val="D9A35F"/>
          </a:solidFill>
          <a:ln w="12700">
            <a:solidFill>
              <a:srgbClr val="D9A3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действия — owner и client — пишутся в action_log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974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73152" cy="1783080"/>
          </a:xfrm>
          <a:prstGeom prst="rect">
            <a:avLst/>
          </a:prstGeom>
          <a:solidFill>
            <a:srgbClr val="D9A35F"/>
          </a:solidFill>
          <a:ln w="12700">
            <a:solidFill>
              <a:srgbClr val="D9A3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47672"/>
            <a:ext cx="233172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1 187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77240" y="26746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действий за цикл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031236"/>
            <a:ext cx="2331720" cy="481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858 owner · 329 client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10712" y="1783080"/>
            <a:ext cx="26974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10712" y="1783080"/>
            <a:ext cx="73152" cy="1783080"/>
          </a:xfrm>
          <a:prstGeom prst="rect">
            <a:avLst/>
          </a:prstGeom>
          <a:solidFill>
            <a:srgbClr val="D9A35F"/>
          </a:solidFill>
          <a:ln w="12700">
            <a:solidFill>
              <a:srgbClr val="D9A3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9312" y="1947672"/>
            <a:ext cx="233172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1 115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639312" y="26746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касаний на отбор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39312" y="3031236"/>
            <a:ext cx="2331720" cy="481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add_to_slot — каждое перетягивание фото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72784" y="1783080"/>
            <a:ext cx="26974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2784" y="1783080"/>
            <a:ext cx="73152" cy="1783080"/>
          </a:xfrm>
          <a:prstGeom prst="rect">
            <a:avLst/>
          </a:prstGeom>
          <a:solidFill>
            <a:srgbClr val="D9A35F"/>
          </a:solidFill>
          <a:ln w="12700">
            <a:solidFill>
              <a:srgbClr val="D9A3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01384" y="1947672"/>
            <a:ext cx="233172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501384" y="26746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карточек создано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01384" y="3031236"/>
            <a:ext cx="2331720" cy="481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create_card события + 1 soft_delete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34856" y="1783080"/>
            <a:ext cx="26974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34856" y="1783080"/>
            <a:ext cx="73152" cy="1783080"/>
          </a:xfrm>
          <a:prstGeom prst="rect">
            <a:avLst/>
          </a:prstGeom>
          <a:solidFill>
            <a:srgbClr val="D9A35F"/>
          </a:solidFill>
          <a:ln w="12700">
            <a:solidFill>
              <a:srgbClr val="D9A3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63456" y="1947672"/>
            <a:ext cx="233172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10.4 ч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9363456" y="26746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задержка «ссылка → первый визит»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63456" y="3031236"/>
            <a:ext cx="2331720" cy="481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Ссылка 2026-05-08 01:16 → 2026-05-08 11:39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886200"/>
            <a:ext cx="1106424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3886200"/>
            <a:ext cx="73152" cy="2331720"/>
          </a:xfrm>
          <a:prstGeom prst="rect">
            <a:avLst/>
          </a:prstGeom>
          <a:solidFill>
            <a:srgbClr val="D9A35F"/>
          </a:solidFill>
          <a:ln w="12700">
            <a:solidFill>
              <a:srgbClr val="D9A3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0233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мы тут уже умеем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77240" y="4434840"/>
            <a:ext cx="10789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1 115 касаний при сборке отбора — это в среднем 17 движений на одну закрытую карточку.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открытия клиентской ссылки фотограф докинул 27 новых превью — видно, что клиент попросил дополнительные кадры по ходу отбора.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это уже в БД — не надо отдельно тегировать, не надо вести таблицу «кто что сделал».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Сессии клиента по share-ссылке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457200" cy="54864"/>
          </a:xfrm>
          <a:prstGeom prst="rect">
            <a:avLst/>
          </a:prstGeom>
          <a:solidFill>
            <a:srgbClr val="D9A35F"/>
          </a:solidFill>
          <a:ln w="12700">
            <a:solidFill>
              <a:srgbClr val="D9A3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Креативный директор приходил 5 раза. Каждый визит — отдельная сессия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3291840"/>
        </p:xfrm>
        <a:graphic>
          <a:graphicData uri="http://schemas.openxmlformats.org/drawingml/2006/table">
            <a:tbl>
              <a:tblPr/>
              <a:tblGrid>
                <a:gridCol w="640080"/>
                <a:gridCol w="3291840"/>
                <a:gridCol w="2194560"/>
                <a:gridCol w="1828800"/>
                <a:gridCol w="31089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Когда (МСК)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Длительность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Действий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делал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2026-05-08 11:39 → 11:47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 мин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первое знакомство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2026-05-08 12:32 → 12:34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 мин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быстрые правки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2026-05-08 12:55 → 13:05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 мин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быстрые правки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2026-05-12 11:55 → 11:56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сек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быстрые правки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2026-05-12 12:07 → 12:49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41.9 мин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основной отбор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разных визита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62.2 мин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212080"/>
            <a:ext cx="110642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5212080"/>
            <a:ext cx="73152" cy="1280160"/>
          </a:xfrm>
          <a:prstGeom prst="rect">
            <a:avLst/>
          </a:prstGeom>
          <a:solidFill>
            <a:srgbClr val="6BB294"/>
          </a:solidFill>
          <a:ln w="12700">
            <a:solidFill>
              <a:srgbClr val="6BB29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53035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это даёт клиенту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566928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прозрачность по тому когда и сколько ваш менеджер работал в проекте: первое знакомство → возврат за час → большая сессия на 248 действий в финальный день. Никаких «я подключусь позже» вслепую — всё видно.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7F7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ещё можно вытащить из логов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457200" cy="54864"/>
          </a:xfrm>
          <a:prstGeom prst="rect">
            <a:avLst/>
          </a:prstGeom>
          <a:solidFill>
            <a:srgbClr val="D9A35F"/>
          </a:solidFill>
          <a:ln w="12700">
            <a:solidFill>
              <a:srgbClr val="D9A3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A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новых полей в БД — уже сейчас доступно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657600" cy="1691640"/>
          </a:xfrm>
          <a:prstGeom prst="rect">
            <a:avLst/>
          </a:prstGeom>
          <a:solidFill>
            <a:srgbClr val="1F232A"/>
          </a:solidFill>
          <a:ln w="6350">
            <a:solidFill>
              <a:srgbClr val="2A30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73152" cy="1691640"/>
          </a:xfrm>
          <a:prstGeom prst="rect">
            <a:avLst/>
          </a:prstGeom>
          <a:solidFill>
            <a:srgbClr val="D9A35F"/>
          </a:solidFill>
          <a:ln w="12700">
            <a:solidFill>
              <a:srgbClr val="D9A3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81051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7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SLA по этапам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2194560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от съёмки до отбора, от отбора до согласования, от согласования до ретуши. Уже видно в stage_events.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70832" y="1691640"/>
            <a:ext cx="3657600" cy="1691640"/>
          </a:xfrm>
          <a:prstGeom prst="rect">
            <a:avLst/>
          </a:prstGeom>
          <a:solidFill>
            <a:srgbClr val="1F232A"/>
          </a:solidFill>
          <a:ln w="6350">
            <a:solidFill>
              <a:srgbClr val="2A30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70832" y="1691640"/>
            <a:ext cx="73152" cy="1691640"/>
          </a:xfrm>
          <a:prstGeom prst="rect">
            <a:avLst/>
          </a:prstGeom>
          <a:solidFill>
            <a:srgbClr val="6BB294"/>
          </a:solidFill>
          <a:ln w="12700">
            <a:solidFill>
              <a:srgbClr val="6BB2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81051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7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Heatmap «когда работают»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0" y="2194560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каком часу команда наиболее активна — какой час самый продуктивный для каждой роли (owner/client/retoucher).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93024" y="1691640"/>
            <a:ext cx="3657600" cy="1691640"/>
          </a:xfrm>
          <a:prstGeom prst="rect">
            <a:avLst/>
          </a:prstGeom>
          <a:solidFill>
            <a:srgbClr val="1F232A"/>
          </a:solidFill>
          <a:ln w="6350">
            <a:solidFill>
              <a:srgbClr val="2A30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93024" y="1691640"/>
            <a:ext cx="73152" cy="1691640"/>
          </a:xfrm>
          <a:prstGeom prst="rect">
            <a:avLst/>
          </a:prstGeom>
          <a:solidFill>
            <a:srgbClr val="D9A35F"/>
          </a:solidFill>
          <a:ln w="12700">
            <a:solidFill>
              <a:srgbClr val="D9A3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94192" y="181051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7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Возврат клиента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94192" y="2194560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раз клиент возвращался к проекту, средняя длительность визита, время между правками. На этой съёмке 5 сессий за 4 дня.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547872"/>
            <a:ext cx="3657600" cy="1691640"/>
          </a:xfrm>
          <a:prstGeom prst="rect">
            <a:avLst/>
          </a:prstGeom>
          <a:solidFill>
            <a:srgbClr val="1F232A"/>
          </a:solidFill>
          <a:ln w="6350">
            <a:solidFill>
              <a:srgbClr val="2A30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547872"/>
            <a:ext cx="73152" cy="1691640"/>
          </a:xfrm>
          <a:prstGeom prst="rect">
            <a:avLst/>
          </a:prstGeom>
          <a:solidFill>
            <a:srgbClr val="6BB294"/>
          </a:solidFill>
          <a:ln w="12700">
            <a:solidFill>
              <a:srgbClr val="6BB29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366674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7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Re-shoots и дозалив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49808" y="4050792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новых кадров фотограф добавил уже после первой клиентской ссылки. По этой съёмке — 27 фото после открытия ссылки.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70832" y="3547872"/>
            <a:ext cx="3657600" cy="1691640"/>
          </a:xfrm>
          <a:prstGeom prst="rect">
            <a:avLst/>
          </a:prstGeom>
          <a:solidFill>
            <a:srgbClr val="1F232A"/>
          </a:solidFill>
          <a:ln w="6350">
            <a:solidFill>
              <a:srgbClr val="2A30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70832" y="3547872"/>
            <a:ext cx="73152" cy="1691640"/>
          </a:xfrm>
          <a:prstGeom prst="rect">
            <a:avLst/>
          </a:prstGeom>
          <a:solidFill>
            <a:srgbClr val="D9A35F"/>
          </a:solidFill>
          <a:ln w="12700">
            <a:solidFill>
              <a:srgbClr val="D9A3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366674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7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Структура карточки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0" y="4050792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слотов на карточке в среднем, типичная композиция (1H+2V против 3V), переиспользование одного фото в нескольких карточках.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193024" y="3547872"/>
            <a:ext cx="3657600" cy="1691640"/>
          </a:xfrm>
          <a:prstGeom prst="rect">
            <a:avLst/>
          </a:prstGeom>
          <a:solidFill>
            <a:srgbClr val="1F232A"/>
          </a:solidFill>
          <a:ln w="6350">
            <a:solidFill>
              <a:srgbClr val="2A30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93024" y="3547872"/>
            <a:ext cx="73152" cy="1691640"/>
          </a:xfrm>
          <a:prstGeom prst="rect">
            <a:avLst/>
          </a:prstGeom>
          <a:solidFill>
            <a:srgbClr val="6BB294"/>
          </a:solidFill>
          <a:ln w="12700">
            <a:solidFill>
              <a:srgbClr val="6BB29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94192" y="366674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7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Эффективность отбора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394192" y="4050792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Отношение «сколько кадров снято / сколько в финальном отборе / сколько пересняли / сколько остались в доп-контенте».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7F7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Maket CP может из этого делать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548640" y="3291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9A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метрика — отдельный модуль приложения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4114800"/>
            <a:ext cx="1371600" cy="54864"/>
          </a:xfrm>
          <a:prstGeom prst="rect">
            <a:avLst/>
          </a:prstGeom>
          <a:solidFill>
            <a:srgbClr val="D9A35F"/>
          </a:solidFill>
          <a:ln w="12700">
            <a:solidFill>
              <a:srgbClr val="D9A35F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7F7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Модули, которые можно поднять на этих данных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457200" cy="54864"/>
          </a:xfrm>
          <a:prstGeom prst="rect">
            <a:avLst/>
          </a:prstGeom>
          <a:solidFill>
            <a:srgbClr val="D9A35F"/>
          </a:solidFill>
          <a:ln w="12700">
            <a:solidFill>
              <a:srgbClr val="D9A3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A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цифры уже в БД — нужно только поднять вкладку и эндпоинты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657600" cy="1691640"/>
          </a:xfrm>
          <a:prstGeom prst="rect">
            <a:avLst/>
          </a:prstGeom>
          <a:solidFill>
            <a:srgbClr val="1F232A"/>
          </a:solidFill>
          <a:ln w="6350">
            <a:solidFill>
              <a:srgbClr val="2A30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73152" cy="1691640"/>
          </a:xfrm>
          <a:prstGeom prst="rect">
            <a:avLst/>
          </a:prstGeom>
          <a:solidFill>
            <a:srgbClr val="D9A35F"/>
          </a:solidFill>
          <a:ln w="12700">
            <a:solidFill>
              <a:srgbClr val="D9A3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81051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7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Дашборд проекта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2194560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Большие числа сверху + таймлайн дней. Прямо во вкладке «Метрики» рядом с карточками.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70832" y="1691640"/>
            <a:ext cx="3657600" cy="1691640"/>
          </a:xfrm>
          <a:prstGeom prst="rect">
            <a:avLst/>
          </a:prstGeom>
          <a:solidFill>
            <a:srgbClr val="1F232A"/>
          </a:solidFill>
          <a:ln w="6350">
            <a:solidFill>
              <a:srgbClr val="2A30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70832" y="1691640"/>
            <a:ext cx="73152" cy="1691640"/>
          </a:xfrm>
          <a:prstGeom prst="rect">
            <a:avLst/>
          </a:prstGeom>
          <a:solidFill>
            <a:srgbClr val="6BB294"/>
          </a:solidFill>
          <a:ln w="12700">
            <a:solidFill>
              <a:srgbClr val="6BB2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81051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7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recipe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0" y="2194560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Срез применённых ЦК-настроек на проекте → референс «как обычно правится EKONIKA». Алерт если новый проект ушёл от паттерна.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93024" y="1691640"/>
            <a:ext cx="3657600" cy="1691640"/>
          </a:xfrm>
          <a:prstGeom prst="rect">
            <a:avLst/>
          </a:prstGeom>
          <a:solidFill>
            <a:srgbClr val="1F232A"/>
          </a:solidFill>
          <a:ln w="6350">
            <a:solidFill>
              <a:srgbClr val="2A30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93024" y="1691640"/>
            <a:ext cx="73152" cy="1691640"/>
          </a:xfrm>
          <a:prstGeom prst="rect">
            <a:avLst/>
          </a:prstGeom>
          <a:solidFill>
            <a:srgbClr val="D9A35F"/>
          </a:solidFill>
          <a:ln w="12700">
            <a:solidFill>
              <a:srgbClr val="D9A3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94192" y="181051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7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SLA-карточка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94192" y="2194560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съёмки → конец отбора → согласование клиента → ретушь. Видно, на каком этапе застряло.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547872"/>
            <a:ext cx="3657600" cy="1691640"/>
          </a:xfrm>
          <a:prstGeom prst="rect">
            <a:avLst/>
          </a:prstGeom>
          <a:solidFill>
            <a:srgbClr val="1F232A"/>
          </a:solidFill>
          <a:ln w="6350">
            <a:solidFill>
              <a:srgbClr val="2A30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547872"/>
            <a:ext cx="73152" cy="1691640"/>
          </a:xfrm>
          <a:prstGeom prst="rect">
            <a:avLst/>
          </a:prstGeom>
          <a:solidFill>
            <a:srgbClr val="6BB294"/>
          </a:solidFill>
          <a:ln w="12700">
            <a:solidFill>
              <a:srgbClr val="6BB29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366674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7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Профиль фотографа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49808" y="4050792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Любимые диафрагмы / фокусные / время дня. Темп. История за квартал.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70832" y="3547872"/>
            <a:ext cx="3657600" cy="1691640"/>
          </a:xfrm>
          <a:prstGeom prst="rect">
            <a:avLst/>
          </a:prstGeom>
          <a:solidFill>
            <a:srgbClr val="1F232A"/>
          </a:solidFill>
          <a:ln w="6350">
            <a:solidFill>
              <a:srgbClr val="2A30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70832" y="3547872"/>
            <a:ext cx="73152" cy="1691640"/>
          </a:xfrm>
          <a:prstGeom prst="rect">
            <a:avLst/>
          </a:prstGeom>
          <a:solidFill>
            <a:srgbClr val="D9A35F"/>
          </a:solidFill>
          <a:ln w="12700">
            <a:solidFill>
              <a:srgbClr val="D9A3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366674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7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План-факт по съёмке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0" y="4050792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артикулов в плане → видим в реальном времени сколько закрыто, средний темп, прогноз окончания.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193024" y="3547872"/>
            <a:ext cx="3657600" cy="1691640"/>
          </a:xfrm>
          <a:prstGeom prst="rect">
            <a:avLst/>
          </a:prstGeom>
          <a:solidFill>
            <a:srgbClr val="1F232A"/>
          </a:solidFill>
          <a:ln w="6350">
            <a:solidFill>
              <a:srgbClr val="2A30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93024" y="3547872"/>
            <a:ext cx="73152" cy="1691640"/>
          </a:xfrm>
          <a:prstGeom prst="rect">
            <a:avLst/>
          </a:prstGeom>
          <a:solidFill>
            <a:srgbClr val="6BB294"/>
          </a:solidFill>
          <a:ln w="12700">
            <a:solidFill>
              <a:srgbClr val="6BB29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94192" y="366674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7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Алерты качества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394192" y="4050792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Heuristic-сигналы из .cos: высокое ISO, агрессивный shadow recovery. Подсказки фотографу прямо во время отбора.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7F7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Maket CP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48640" y="23774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9A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ledger продакшена, который пишет себя сам.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3017520"/>
            <a:ext cx="1371600" cy="54864"/>
          </a:xfrm>
          <a:prstGeom prst="rect">
            <a:avLst/>
          </a:prstGeom>
          <a:solidFill>
            <a:srgbClr val="D9A35F"/>
          </a:solidFill>
          <a:ln w="12700">
            <a:solidFill>
              <a:srgbClr val="D9A3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9184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C8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4 835 чисел уже есть — в .cos, в БД и в action_log.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C8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Нужно только подключить нужные хвосты и собрать вкладку «Метрики».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barinski.m@gmail.com  ·  github.com/barinskim-cmyk/maket-cp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Maket CP — метрики продакшена</dc:title>
  <dc:subject>PptxGenJS Presentation</dc:subject>
  <dc:creator>Maket CP</dc:creator>
  <cp:lastModifiedBy>Maket CP</cp:lastModifiedBy>
  <cp:revision>1</cp:revision>
  <dcterms:created xsi:type="dcterms:W3CDTF">2026-05-12T11:46:16Z</dcterms:created>
  <dcterms:modified xsi:type="dcterms:W3CDTF">2026-05-12T11:46:16Z</dcterms:modified>
</cp:coreProperties>
</file>